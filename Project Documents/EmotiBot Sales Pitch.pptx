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20"/>
    <p:restoredTop sz="94668"/>
  </p:normalViewPr>
  <p:slideViewPr>
    <p:cSldViewPr snapToGrid="0" snapToObjects="1">
      <p:cViewPr varScale="1">
        <p:scale>
          <a:sx n="98" d="100"/>
          <a:sy n="98" d="100"/>
        </p:scale>
        <p:origin x="216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MEET EMOTIBOT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C8AA"/>
                </a:solidFill>
                <a:latin typeface="Calibri"/>
              </a:rPr>
              <a:t>The Campus Emotion-Aware 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660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CCDDFF"/>
                </a:solidFill>
                <a:latin typeface="Calibri"/>
              </a:rPr>
              <a:t>An interactive robot that reads human emotions and responds in real time.
Designed for smarter, more empathetic campus environments.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02198"/>
            <a:ext cx="4892040" cy="517427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288423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3E"/>
                </a:solidFill>
                <a:latin typeface="Calibri"/>
              </a:rPr>
              <a:t>  NHL </a:t>
            </a:r>
            <a:r>
              <a:rPr sz="1500" b="1" i="0" dirty="0" err="1">
                <a:solidFill>
                  <a:srgbClr val="0D1B3E"/>
                </a:solidFill>
                <a:latin typeface="Calibri"/>
              </a:rPr>
              <a:t>Stenden</a:t>
            </a:r>
            <a:r>
              <a:rPr sz="1600" b="1" i="0" dirty="0">
                <a:solidFill>
                  <a:srgbClr val="0D1B3E"/>
                </a:solidFill>
                <a:latin typeface="Calibri"/>
              </a:rPr>
              <a:t>  ·  Project Innovate 2025–2026  ·  Group B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1005840"/>
            <a:ext cx="2560320" cy="2560320"/>
          </a:xfrm>
          <a:prstGeom prst="ellipse">
            <a:avLst/>
          </a:prstGeom>
          <a:noFill/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0" y="1371600"/>
            <a:ext cx="1828800" cy="1828800"/>
          </a:xfrm>
          <a:prstGeom prst="ellipse">
            <a:avLst/>
          </a:prstGeom>
          <a:noFill/>
          <a:ln w="317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12680" y="1783080"/>
            <a:ext cx="1005840" cy="1005840"/>
          </a:xfrm>
          <a:prstGeom prst="ellipse">
            <a:avLst/>
          </a:prstGeom>
          <a:noFill/>
          <a:ln w="317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21240" y="1920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 dirty="0">
                <a:solidFill>
                  <a:srgbClr val="00C8AA"/>
                </a:solidFill>
                <a:latin typeface="Calibri"/>
              </a:rPr>
              <a:t>🤖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3E"/>
                </a:solidFill>
                <a:latin typeface="Calibri"/>
              </a:rPr>
              <a:t>Agenda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097280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29867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D1B3E"/>
                </a:solidFill>
                <a:latin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173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64748B"/>
                </a:solidFill>
                <a:latin typeface="Calibri"/>
              </a:rPr>
              <a:t>What </a:t>
            </a:r>
            <a:r>
              <a:rPr sz="1600" b="0" i="0" dirty="0" err="1">
                <a:solidFill>
                  <a:srgbClr val="64748B"/>
                </a:solidFill>
                <a:latin typeface="Calibri"/>
              </a:rPr>
              <a:t>EmotiBot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 is and the context behind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94560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" y="2423160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555567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77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The gap EmotiBot was built to close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39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3749039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886198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690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What EmotiBot does — and why it matters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46320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5074919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230370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94959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A live walkthrough of the interaction flow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097280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216152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Emotions &amp; 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4173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Inside the technology powering EmotiBot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94560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00800" y="2423160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91656" y="2569463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377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Why Invest?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7432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The business case and the opportunity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20439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00800" y="3749039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891896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The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0690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The experts delivering this solution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846320"/>
            <a:ext cx="5486400" cy="18288"/>
          </a:xfrm>
          <a:prstGeom prst="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5074919"/>
            <a:ext cx="594360" cy="59436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5229181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Call to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394959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Let's talk next steps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DE20AC-FF5B-9D9F-10BF-0757BAB0E484}"/>
              </a:ext>
            </a:extLst>
          </p:cNvPr>
          <p:cNvSpPr txBox="1"/>
          <p:nvPr/>
        </p:nvSpPr>
        <p:spPr>
          <a:xfrm>
            <a:off x="9501691" y="6405033"/>
            <a:ext cx="2659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D1B3E"/>
                </a:solidFill>
                <a:latin typeface="Calibri"/>
              </a:rPr>
              <a:t>Estimated time: 10 minutes</a:t>
            </a:r>
            <a:endParaRPr sz="1600" b="1" i="0" dirty="0">
              <a:solidFill>
                <a:srgbClr val="0D1B3E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120640" cy="5120640"/>
          </a:xfrm>
          <a:prstGeom prst="rect">
            <a:avLst/>
          </a:prstGeom>
          <a:solidFill>
            <a:srgbClr val="1A3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12064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C8AA"/>
                </a:solidFill>
                <a:latin typeface="Calibri"/>
              </a:rPr>
              <a:t>About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5207"/>
            <a:ext cx="4554781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74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CDEFF"/>
                </a:solidFill>
              </a:rPr>
              <a:t>Built in 8 weeks by first-year IT students.</a:t>
            </a:r>
            <a:endParaRPr lang="en-US" sz="2400" b="1" dirty="0">
              <a:solidFill>
                <a:srgbClr val="CCDEFF"/>
              </a:solidFill>
              <a:latin typeface="Calibri"/>
            </a:endParaRPr>
          </a:p>
          <a:p>
            <a:pPr marL="285750" indent="-285750">
              <a:spcAft>
                <a:spcPts val="1574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CDEFF"/>
                </a:solidFill>
              </a:rPr>
              <a:t>Developed for Project Innovate 2025–2026.</a:t>
            </a:r>
          </a:p>
          <a:p>
            <a:pPr marL="285750" indent="-285750">
              <a:spcAft>
                <a:spcPts val="1574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CDEFF"/>
                </a:solidFill>
              </a:rPr>
              <a:t>A robot that detects emotions and responds by voice.</a:t>
            </a:r>
            <a:endParaRPr lang="en-US" sz="2400" dirty="0">
              <a:solidFill>
                <a:srgbClr val="CCD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394960" cy="150876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417320"/>
            <a:ext cx="45720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73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8AA"/>
                </a:solidFill>
                <a:latin typeface="Calibri"/>
              </a:rPr>
              <a:t>Academic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36886"/>
            <a:ext cx="3648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NHL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Stenden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University · IT Group B · Period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5394960" cy="150876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45720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260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8AA"/>
                </a:solidFill>
                <a:latin typeface="Calibri"/>
              </a:rPr>
              <a:t>Team of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37560"/>
            <a:ext cx="4297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Hardware, Software &amp; Integration specialists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5394960" cy="150876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4892040"/>
            <a:ext cx="45720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6634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8AA"/>
                </a:solidFill>
                <a:latin typeface="Calibri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074920"/>
            <a:ext cx="3648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Deliver a fully working, sellable product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87200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3E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4748B"/>
                </a:solidFill>
                <a:latin typeface="Calibri"/>
              </a:rPr>
              <a:t>Campus environments feel impersonal and disconnected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3474720" cy="109728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20" y="1835035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 dirty="0">
                <a:solidFill>
                  <a:srgbClr val="FFFFFF"/>
                </a:solidFill>
                <a:latin typeface="Calibri"/>
              </a:rPr>
              <a:t>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D1B3E"/>
                </a:solidFill>
                <a:latin typeface="Calibri"/>
              </a:rPr>
              <a:t>No Emotional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610" y="3204627"/>
            <a:ext cx="232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64748B"/>
                </a:solidFill>
                <a:latin typeface="Calibri"/>
              </a:rPr>
              <a:t>Existing campus systems treat everyone identically — no personali</a:t>
            </a:r>
            <a:r>
              <a:rPr lang="en-US" b="0" i="0" dirty="0">
                <a:solidFill>
                  <a:srgbClr val="64748B"/>
                </a:solidFill>
                <a:latin typeface="Calibri"/>
              </a:rPr>
              <a:t>z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ation, no empathy.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6304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474720" cy="109728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0" y="1835035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 dirty="0">
                <a:solidFill>
                  <a:srgbClr val="FFFFFF"/>
                </a:solidFill>
                <a:latin typeface="Calibri"/>
              </a:rPr>
              <a:t>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Missed Student Wellbeing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3204627"/>
            <a:ext cx="2011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64748B"/>
                </a:solidFill>
                <a:latin typeface="Calibri"/>
              </a:rPr>
              <a:t>Students in distress are often invisible to automated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46304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463040"/>
            <a:ext cx="3474720" cy="109728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1835035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 dirty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14600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D1B3E"/>
                </a:solidFill>
                <a:latin typeface="Calibri"/>
              </a:rPr>
              <a:t>Untapped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04627"/>
            <a:ext cx="2011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4748B"/>
                </a:solidFill>
                <a:latin typeface="Calibri"/>
              </a:rPr>
              <a:t>Computer vision and emotion AI exist but aren't deployed in learning environments.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Calibri"/>
              </a:rPr>
              <a:t>An autonomous robot that navigates campus, detects faces, and responds to emotions with voice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560320" cy="3200400"/>
          </a:xfrm>
          <a:prstGeom prst="rect">
            <a:avLst/>
          </a:prstGeom>
          <a:solidFill>
            <a:srgbClr val="1A325E"/>
          </a:solidFill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1280160"/>
            <a:ext cx="1645920" cy="914400"/>
          </a:xfrm>
          <a:prstGeom prst="ellipse">
            <a:avLst/>
          </a:prstGeom>
          <a:solidFill>
            <a:srgbClr val="1A325E"/>
          </a:solidFill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4630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 dirty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4371" y="2405941"/>
            <a:ext cx="22542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00C8AA"/>
                </a:solidFill>
                <a:latin typeface="Calibri"/>
              </a:rPr>
              <a:t>📷  Camera</a:t>
            </a:r>
            <a:endParaRPr lang="en-US" sz="2400" b="0" i="0" dirty="0">
              <a:solidFill>
                <a:srgbClr val="00C8AA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00C8AA"/>
                </a:solidFill>
                <a:latin typeface="Calibri"/>
              </a:rPr>
              <a:t>
🔊  Speaker</a:t>
            </a:r>
            <a:endParaRPr lang="en-US" sz="2400" b="0" i="0" dirty="0">
              <a:solidFill>
                <a:srgbClr val="00C8AA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00C8AA"/>
                </a:solidFill>
                <a:latin typeface="Calibri"/>
              </a:rPr>
              <a:t>
⚙️   Arduino + Pi</a:t>
            </a:r>
            <a:endParaRPr lang="en-US" sz="2400" b="0" i="0" dirty="0">
              <a:solidFill>
                <a:srgbClr val="00C8AA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00C8AA"/>
                </a:solidFill>
                <a:latin typeface="Calibri"/>
              </a:rPr>
              <a:t>
🔋  Battery Pack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383280" cy="192024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C8AA"/>
                </a:solidFill>
                <a:latin typeface="Calibri"/>
              </a:rPr>
              <a:t>🧭  Safe Indoor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94037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DDFF"/>
                </a:solidFill>
                <a:latin typeface="Calibri"/>
              </a:rPr>
              <a:t>Pre-planned route with obstacle avoidance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371600"/>
            <a:ext cx="3383280" cy="192024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463040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C8AA"/>
                </a:solidFill>
                <a:latin typeface="Calibri"/>
              </a:rPr>
              <a:t>😊  Emotion</a:t>
            </a:r>
            <a:endParaRPr lang="en-US" sz="2400" b="1" i="0" dirty="0">
              <a:solidFill>
                <a:srgbClr val="00C8AA"/>
              </a:solidFill>
              <a:latin typeface="Calibri"/>
            </a:endParaRPr>
          </a:p>
          <a:p>
            <a:pPr algn="l"/>
            <a:r>
              <a:rPr sz="2400" b="1" i="0" dirty="0">
                <a:solidFill>
                  <a:srgbClr val="00C8AA"/>
                </a:solidFill>
                <a:latin typeface="Calibri"/>
              </a:rPr>
              <a:t>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294037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DDFF"/>
                </a:solidFill>
                <a:latin typeface="Calibri"/>
              </a:rPr>
              <a:t>Detects Happy · Neutral · Sad · Surprised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657600"/>
            <a:ext cx="3383280" cy="192024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🎙️  Voice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45708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DDFF"/>
                </a:solidFill>
                <a:latin typeface="Calibri"/>
              </a:rPr>
              <a:t>Speaks personali</a:t>
            </a:r>
            <a:r>
              <a:rPr lang="en-US" b="0" i="0" dirty="0">
                <a:solidFill>
                  <a:srgbClr val="CCDDFF"/>
                </a:solidFill>
                <a:latin typeface="Calibri"/>
              </a:rPr>
              <a:t>z</a:t>
            </a:r>
            <a:r>
              <a:rPr b="0" i="0" dirty="0">
                <a:solidFill>
                  <a:srgbClr val="CCDDFF"/>
                </a:solidFill>
                <a:latin typeface="Calibri"/>
              </a:rPr>
              <a:t>ed responses in real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3657600"/>
            <a:ext cx="3383280" cy="192024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🔗  Dual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245708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DDFF"/>
                </a:solidFill>
                <a:latin typeface="Calibri"/>
              </a:rPr>
              <a:t>Raspberry Pi + Arduino seamless integration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87200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3E"/>
                </a:solidFill>
                <a:latin typeface="Calibri"/>
              </a:rPr>
              <a:t>How It Works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709928"/>
            <a:ext cx="548640" cy="45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82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D1B3E"/>
                </a:solidFill>
                <a:latin typeface="Calibri"/>
              </a:rPr>
              <a:t>Robot Navigates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" y="320040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Follows pre-planned campus route autonomously</a:t>
            </a:r>
          </a:p>
        </p:txBody>
      </p:sp>
      <p:sp>
        <p:nvSpPr>
          <p:cNvPr id="11" name="Oval 10"/>
          <p:cNvSpPr/>
          <p:nvPr/>
        </p:nvSpPr>
        <p:spPr>
          <a:xfrm>
            <a:off x="2898648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2364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8" y="1709928"/>
            <a:ext cx="548640" cy="45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246888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User Activates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0884" y="32004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Button press triggers interaction mode</a:t>
            </a:r>
          </a:p>
        </p:txBody>
      </p:sp>
      <p:sp>
        <p:nvSpPr>
          <p:cNvPr id="16" name="Oval 15"/>
          <p:cNvSpPr/>
          <p:nvPr/>
        </p:nvSpPr>
        <p:spPr>
          <a:xfrm>
            <a:off x="4791456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5172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3016" y="1709928"/>
            <a:ext cx="548640" cy="45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9976" y="246888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Face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3692" y="32004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Camera captures user's facial image</a:t>
            </a:r>
          </a:p>
        </p:txBody>
      </p:sp>
      <p:sp>
        <p:nvSpPr>
          <p:cNvPr id="21" name="Oval 20"/>
          <p:cNvSpPr/>
          <p:nvPr/>
        </p:nvSpPr>
        <p:spPr>
          <a:xfrm>
            <a:off x="6684264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7980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35824" y="1709928"/>
            <a:ext cx="548640" cy="45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246888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AI Analyses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320040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FER/DeepFace detects emotion in milliseconds</a:t>
            </a:r>
          </a:p>
        </p:txBody>
      </p:sp>
      <p:sp>
        <p:nvSpPr>
          <p:cNvPr id="26" name="Oval 25"/>
          <p:cNvSpPr/>
          <p:nvPr/>
        </p:nvSpPr>
        <p:spPr>
          <a:xfrm>
            <a:off x="8577072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0788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8632" y="1709928"/>
            <a:ext cx="548640" cy="45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2468880"/>
            <a:ext cx="182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Robot Responds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9308" y="32004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Voice output tailored to detected emotion</a:t>
            </a:r>
          </a:p>
        </p:txBody>
      </p:sp>
      <p:sp>
        <p:nvSpPr>
          <p:cNvPr id="31" name="Oval 30"/>
          <p:cNvSpPr/>
          <p:nvPr/>
        </p:nvSpPr>
        <p:spPr>
          <a:xfrm>
            <a:off x="10469880" y="128016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83596" y="1432482"/>
            <a:ext cx="1005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468880"/>
            <a:ext cx="182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Continues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2116" y="32004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Robot safely resumes its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Powered by: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596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C8AA"/>
                </a:solidFill>
                <a:latin typeface="Calibri"/>
              </a:rPr>
              <a:t>Python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OpenCV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2980" y="4602551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FER / DeepFace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PySerial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Raspberry 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Arduino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24160" y="4572000"/>
            <a:ext cx="12801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69880" y="4590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  <a:latin typeface="Calibri"/>
              </a:rPr>
              <a:t>pyttsx3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Recognised Emotions &amp;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029200" cy="5120640"/>
          </a:xfrm>
          <a:prstGeom prst="rect">
            <a:avLst/>
          </a:prstGeom>
          <a:solidFill>
            <a:srgbClr val="1A3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02920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AA"/>
                </a:solidFill>
                <a:latin typeface="Calibri"/>
              </a:rPr>
              <a:t>Emotion Recognition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9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😊 Happy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059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  <a:latin typeface="Calibri"/>
              </a:rPr>
              <a:t>Responds with cheerful, positive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4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😐 Neutral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643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  <a:latin typeface="Calibri"/>
              </a:rPr>
              <a:t>Standard greeting and helpful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107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😢 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222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  <a:latin typeface="Calibri"/>
              </a:rPr>
              <a:t>Offers words of encouragement and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166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😲 Surprised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2811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  <a:latin typeface="Calibri"/>
              </a:rPr>
              <a:t>Acknowledges and calms with gentle 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5486400" cy="5120640"/>
          </a:xfrm>
          <a:prstGeom prst="rect">
            <a:avLst/>
          </a:prstGeom>
          <a:solidFill>
            <a:srgbClr val="1A3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548640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1430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AA"/>
                </a:solidFill>
                <a:latin typeface="Calibri"/>
              </a:rPr>
              <a:t>Key Hardware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🖥️  Raspberry Pi — Brain / Vision /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⚙️  Arduino Microcontroller —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🚗  2× DC Motors + Motor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📷  Integrated Camera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📡  Ultrasonic Sensor — Obstacle avoidance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🔘  8× Line Sensors + Start Button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30352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🔊  Speaker — Voice output via pyttsx3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87200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D1B3E"/>
                </a:solidFill>
                <a:latin typeface="Calibri"/>
              </a:rPr>
              <a:t>Why Invest in </a:t>
            </a:r>
            <a:r>
              <a:rPr sz="3600" b="1" i="0" dirty="0" err="1">
                <a:solidFill>
                  <a:srgbClr val="0D1B3E"/>
                </a:solidFill>
                <a:latin typeface="Calibri"/>
              </a:rPr>
              <a:t>EmotiBot</a:t>
            </a:r>
            <a:r>
              <a:rPr sz="3600" b="1" i="0" dirty="0">
                <a:solidFill>
                  <a:srgbClr val="0D1B3E"/>
                </a:solidFill>
                <a:latin typeface="Calibri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25603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13825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AA"/>
                </a:solidFill>
                <a:latin typeface="Calibri"/>
              </a:rPr>
              <a:t>1st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65385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  <a:latin typeface="Calibri"/>
              </a:rPr>
              <a:t>Emotion-aware campus robot of its kind at NHL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Stenden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9000" y="1097280"/>
            <a:ext cx="25603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313825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AA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6538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Emotions detected in real time via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25603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313825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A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6538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Controller systems seamlessly integrated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56032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1313825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AA"/>
                </a:solidFill>
                <a:latin typeface="Calibri"/>
              </a:rP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36538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Potential to expand emotions &amp;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🏫 Campus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Position your institution as a leader in AI-enhanced learning environments.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❤️ Student Wellbeing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Proactively identify and respond to student emotional states.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🔬 Research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4068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Extendable platform for ongoing AI/robotics research and education.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3E"/>
                </a:solidFill>
                <a:latin typeface="Calibri"/>
              </a:rPr>
              <a:t>💡 Real-World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4068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Students gain hands-on experience with embedded systems and AI.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Team Behind EmotiBot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20651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00C8AA"/>
                </a:solidFill>
                <a:latin typeface="Calibri"/>
              </a:rPr>
              <a:t>NHL </a:t>
            </a:r>
            <a:r>
              <a:rPr sz="2400" b="0" i="0" dirty="0" err="1">
                <a:solidFill>
                  <a:srgbClr val="00C8AA"/>
                </a:solidFill>
                <a:latin typeface="Calibri"/>
              </a:rPr>
              <a:t>Stenden</a:t>
            </a:r>
            <a:r>
              <a:rPr sz="2400" b="0" i="0" dirty="0">
                <a:solidFill>
                  <a:srgbClr val="00C8AA"/>
                </a:solidFill>
                <a:latin typeface="Calibri"/>
              </a:rPr>
              <a:t> University of Applied Sciences  ·  IT Group B  ·  2025–2026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474720" cy="292608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47472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🔗 Hybrid /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6065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Franz Petev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7584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Ngangfor Amungwa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474720" cy="292608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47472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💻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46065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Kristian Endrev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77584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Jessica Camacho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03120"/>
            <a:ext cx="3474720" cy="2926080"/>
          </a:xfrm>
          <a:prstGeom prst="rect">
            <a:avLst/>
          </a:prstGeom>
          <a:solidFill>
            <a:srgbClr val="1A325E"/>
          </a:solidFill>
          <a:ln w="1270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103120"/>
            <a:ext cx="3474720" cy="91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🔧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046065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Kyra Kovács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77584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👤  Herbert Dorothea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64748B"/>
                </a:solidFill>
                <a:latin typeface="Calibri"/>
              </a:rPr>
              <a:t>Guided by: Martijn Pomp &amp; Bart Oerlemans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6217920"/>
            <a:ext cx="11868912" cy="640080"/>
          </a:xfrm>
          <a:prstGeom prst="rect">
            <a:avLst/>
          </a:prstGeom>
          <a:solidFill>
            <a:srgbClr val="00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C8AA"/>
                </a:solidFill>
                <a:latin typeface="Calibri"/>
              </a:rPr>
              <a:t>Ready to Transform Your Campus?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  <a:latin typeface="Calibri"/>
              </a:rPr>
              <a:t>EmotiBot is more than a robot — it's the future of empathetic, intelligent campus interaction.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3383280" cy="2286000"/>
          </a:xfrm>
          <a:prstGeom prst="rect">
            <a:avLst/>
          </a:prstGeom>
          <a:solidFill>
            <a:srgbClr val="1A325E"/>
          </a:solidFill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🚀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2882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FFFFF"/>
                </a:solidFill>
                <a:latin typeface="Calibri"/>
              </a:rPr>
              <a:t>Commission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EmotiBot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for your campus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834640"/>
            <a:ext cx="3383280" cy="2286000"/>
          </a:xfrm>
          <a:prstGeom prst="rect">
            <a:avLst/>
          </a:prstGeom>
          <a:solidFill>
            <a:srgbClr val="1A325E"/>
          </a:solidFill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🔬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66160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Co-develop the next generation with our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834640"/>
            <a:ext cx="3383280" cy="2286000"/>
          </a:xfrm>
          <a:prstGeom prst="rect">
            <a:avLst/>
          </a:prstGeom>
          <a:solidFill>
            <a:srgbClr val="1A325E"/>
          </a:solidFill>
          <a:ln w="19050">
            <a:solidFill>
              <a:srgbClr val="00C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971800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📈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  <a:latin typeface="Calibri"/>
              </a:rPr>
              <a:t>Add new emotions, languages &amp; environments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36" y="6326862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D1B3E"/>
                </a:solidFill>
                <a:latin typeface="Calibri"/>
              </a:rPr>
              <a:t>NHL </a:t>
            </a:r>
            <a:r>
              <a:rPr b="1" i="0" dirty="0" err="1">
                <a:solidFill>
                  <a:srgbClr val="0D1B3E"/>
                </a:solidFill>
                <a:latin typeface="Calibri"/>
              </a:rPr>
              <a:t>Stenden</a:t>
            </a:r>
            <a:r>
              <a:rPr b="1" i="0" dirty="0">
                <a:solidFill>
                  <a:srgbClr val="0D1B3E"/>
                </a:solidFill>
                <a:latin typeface="Calibri"/>
              </a:rPr>
              <a:t> University of Applied Sciences  ·  Project Innovate 2025–2026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82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0507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C5606-68CD-5BD1-D272-F7DEC952F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26" y="643466"/>
            <a:ext cx="5566833" cy="556683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58169" y="1075188"/>
            <a:ext cx="1561859" cy="1172973"/>
            <a:chOff x="9160561" y="1075188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1636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543800" y="-320040"/>
            <a:ext cx="2148840" cy="2148840"/>
          </a:xfrm>
          <a:prstGeom prst="ellipse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4572000"/>
            <a:ext cx="1828800" cy="1828800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537960" y="4526280"/>
            <a:ext cx="1005840" cy="1005840"/>
          </a:xfrm>
          <a:prstGeom prst="ellipse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25880" y="1965960"/>
            <a:ext cx="73152" cy="132588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380585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671</Words>
  <Application>Microsoft Macintosh PowerPoint</Application>
  <PresentationFormat>Custom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Kristian Endrev</cp:lastModifiedBy>
  <cp:revision>7</cp:revision>
  <dcterms:created xsi:type="dcterms:W3CDTF">2013-01-27T09:14:16Z</dcterms:created>
  <dcterms:modified xsi:type="dcterms:W3CDTF">2026-06-18T17:54:51Z</dcterms:modified>
  <cp:category/>
</cp:coreProperties>
</file>